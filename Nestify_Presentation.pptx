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NESTIFY</a:t>
            </a:r>
          </a:p>
          <a:p>
            <a:pPr>
              <a:spcAft>
                <a:spcPts val="500"/>
              </a:spcAft>
              <a:defRPr sz="2400" b="1">
                <a:solidFill>
                  <a:srgbClr val="00B4A2"/>
                </a:solidFill>
                <a:latin typeface="Calibri"/>
              </a:defRPr>
            </a:pPr>
            <a:r>
              <a:t>A Community-Driven Shared Accommodation Booking Platform</a:t>
            </a:r>
          </a:p>
          <a:p>
            <a:pPr>
              <a:defRPr sz="1600" i="1">
                <a:solidFill>
                  <a:srgbClr val="F5F6F8"/>
                </a:solidFill>
                <a:latin typeface="Calibri"/>
              </a:defRPr>
            </a:pPr>
            <a:r>
              <a:t>MERN Stack Web Application solving Travel Costs, Solo Female Safety, and Eco-Friendly Feature Disclosures in Lodging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B4A2"/>
                </a:solidFill>
                <a:latin typeface="Calibri"/>
              </a:defRPr>
            </a:pPr>
            <a:r>
              <a:t>Submitted By:</a:t>
            </a:r>
          </a:p>
          <a:p>
            <a:pPr>
              <a:defRPr sz="1400">
                <a:solidFill>
                  <a:srgbClr val="F5F6F8"/>
                </a:solidFill>
                <a:latin typeface="Calibri"/>
              </a:defRPr>
            </a:pPr>
            <a:r>
              <a:t>Name: [Your Name]</a:t>
            </a:r>
          </a:p>
          <a:p>
            <a:pPr>
              <a:defRPr sz="1400">
                <a:solidFill>
                  <a:srgbClr val="F5F6F8"/>
                </a:solidFill>
                <a:latin typeface="Calibri"/>
              </a:defRPr>
            </a:pPr>
            <a:r>
              <a:t>Class &amp; Div: [Class &amp; Div]</a:t>
            </a:r>
          </a:p>
          <a:p>
            <a:pPr>
              <a:defRPr sz="1400">
                <a:solidFill>
                  <a:srgbClr val="F5F6F8"/>
                </a:solidFill>
                <a:latin typeface="Calibri"/>
              </a:defRPr>
            </a:pPr>
            <a:r>
              <a:t>Roll No: [Roll No]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B4A2"/>
                </a:solidFill>
                <a:latin typeface="Calibri"/>
              </a:defRPr>
            </a:pPr>
            <a:r>
              <a:t>Under the Guidance of:</a:t>
            </a:r>
          </a:p>
          <a:p>
            <a:pPr>
              <a:defRPr sz="1400">
                <a:solidFill>
                  <a:srgbClr val="F5F6F8"/>
                </a:solidFill>
                <a:latin typeface="Calibri"/>
              </a:defRPr>
            </a:pPr>
            <a:r>
              <a:t>Guide: [Guide Name]</a:t>
            </a:r>
          </a:p>
          <a:p>
            <a:pPr>
              <a:defRPr sz="1400">
                <a:solidFill>
                  <a:srgbClr val="F5F6F8"/>
                </a:solidFill>
                <a:latin typeface="Calibri"/>
              </a:defRPr>
            </a:pPr>
            <a:r>
              <a:t>Department of Computer Engineering</a:t>
            </a:r>
          </a:p>
          <a:p>
            <a:pPr>
              <a:defRPr sz="1400">
                <a:solidFill>
                  <a:srgbClr val="F5F6F8"/>
                </a:solidFill>
                <a:latin typeface="Calibri"/>
              </a:defRPr>
            </a:pPr>
            <a:r>
              <a:t>Institution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COMPLETION LETTER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2009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200" b="1">
                <a:solidFill>
                  <a:srgbClr val="101C30"/>
                </a:solidFill>
                <a:latin typeface="Calibri"/>
              </a:defRPr>
            </a:pPr>
            <a:r>
              <a:t>CERTIFICATE OF COMPLETION</a:t>
            </a:r>
          </a:p>
          <a:p>
            <a:pPr>
              <a:spcAft>
                <a:spcPts val="4000"/>
              </a:spcAft>
              <a:defRPr sz="1500">
                <a:solidFill>
                  <a:srgbClr val="323232"/>
                </a:solidFill>
                <a:latin typeface="Calibri"/>
              </a:defRPr>
            </a:pPr>
            <a:r>
              <a:t>This is to certify that the project report entitled "NESTIFY: A Community-Driven Shared Accommodation Booking Platform" is a bonafide work carried out by [Your Name], student of [Class &amp; Div], bearing Roll No: [Roll No], towards the partial fulfillment of the requirements for the academic curriculum.</a:t>
            </a:r>
            <a:br/>
            <a:br/>
            <a:r>
              <a:t>The project has been successfully completed in accordance with the department guidelines and is approved for submission. All design documentation, implementation modules, and testing schedules have been executed to a satisfactory academic standard under my guidance and supervision.</a:t>
            </a:r>
          </a:p>
          <a:p>
            <a:pPr>
              <a:defRPr sz="1400" b="1">
                <a:solidFill>
                  <a:srgbClr val="101C30"/>
                </a:solidFill>
                <a:latin typeface="Calibri"/>
              </a:defRPr>
            </a:pPr>
            <a:r>
              <a:t>_________________________				_________________________</a:t>
            </a:r>
            <a:br/>
            <a:r>
              <a:t>Internal Guide / Supervisor				Head of Department</a:t>
            </a:r>
            <a:br/>
            <a:br/>
            <a:br/>
            <a:r>
              <a:t>_________________________				_________________________</a:t>
            </a:r>
            <a:br/>
            <a:r>
              <a:t>Internal Examiner				External Examiner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rPr dirty="0"/>
              <a:t>What is Nestify?</a:t>
            </a:r>
          </a:p>
          <a:p>
            <a:pPr>
              <a:spcAft>
                <a:spcPts val="12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dirty="0"/>
              <a:t>Nestify is a community-driven shared accommodation booking platform built on the MERN stack (MongoDB, Express.js, EJS, Node.js). It connects budget travelers with local homeowners who have spare rooms to share, creating a trust-based economy for affordable lodging.</a:t>
            </a:r>
          </a:p>
          <a:p>
            <a:pPr>
              <a:spcAft>
                <a:spcPts val="600"/>
              </a:spcAft>
              <a:defRPr sz="1500" b="1">
                <a:solidFill>
                  <a:srgbClr val="00B4A2"/>
                </a:solidFill>
                <a:latin typeface="Calibri"/>
              </a:defRPr>
            </a:pPr>
            <a:r>
              <a:rPr dirty="0"/>
              <a:t>Technology Stack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• Backend: Node.js + Express.js (MVC Architecture)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• Database: MongoDB with Mongoose ODM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• Frontend: EJS Templates + Bootstrap 5 + </a:t>
            </a:r>
            <a:r>
              <a:rPr dirty="0" err="1"/>
              <a:t>Flatpickr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• Auth: Passport.js with session-based login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• Uploads: Multer for images &amp; document verification</a:t>
            </a:r>
          </a:p>
          <a:p>
            <a:pPr>
              <a:spcAft>
                <a:spcPts val="600"/>
              </a:spcAft>
              <a:defRPr sz="1500" b="1">
                <a:solidFill>
                  <a:srgbClr val="00B4A2"/>
                </a:solidFill>
                <a:latin typeface="Calibri"/>
              </a:defRPr>
            </a:pPr>
            <a:r>
              <a:rPr dirty="0"/>
              <a:t>Key Features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✔ Admin-vetted listings with document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✔ Date collision prevention for bookings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✔ Verified women's safety ratings for female travelers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✔ Eco-friendly feature badges on property listings</a:t>
            </a:r>
          </a:p>
          <a:p>
            <a:pPr>
              <a:spcAft>
                <a:spcPts val="4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✔ Community services marketplace (guides, drivers, helpers)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rPr dirty="0"/>
              <a:t>Problems Nestify Addresses</a:t>
            </a:r>
          </a:p>
          <a:p>
            <a:pPr>
              <a:spcAft>
                <a:spcPts val="7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101C30"/>
                </a:solidFill>
              </a:rPr>
              <a:t>• High Travel Costs: Mainstream aggregators prioritize premium hotels and villas. Budget travelers, students, and backpackers struggle to find affordable shared spaces with a home-like atmosphere.</a:t>
            </a:r>
          </a:p>
          <a:p>
            <a:pPr>
              <a:spcAft>
                <a:spcPts val="7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101C30"/>
                </a:solidFill>
              </a:rPr>
              <a:t>• Underutilized Rooms: Homeowners with spare rooms have no trusted, simple platform to list and monetize these spaces while welcoming cultural exchanges with travelers.</a:t>
            </a:r>
          </a:p>
          <a:p>
            <a:pPr>
              <a:spcAft>
                <a:spcPts val="7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101C30"/>
                </a:solidFill>
              </a:rPr>
              <a:t>• Female Safety Gaps: Generic reviews on existing platforms do not isolate safety parameters. Solo female travelers need verified reviews from women who actually stayed at the property.</a:t>
            </a:r>
          </a:p>
          <a:p>
            <a:pPr>
              <a:spcAft>
                <a:spcPts val="7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101C30"/>
                </a:solidFill>
              </a:rPr>
              <a:t>• Listing Fraud: Many platforms allow hosts to list properties without identity verification, leading to fake or misleading listings that erode traveler trust.</a:t>
            </a:r>
          </a:p>
          <a:p>
            <a:pPr>
              <a:spcAft>
                <a:spcPts val="7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101C30"/>
                </a:solidFill>
              </a:rPr>
              <a:t>• No Eco Transparency: Eco-conscious travelers have no standard way to check which green amenities (solar energy, recycling, rainwater harvesting) a property actually 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OBJECTIVES &amp; TECHNICAL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20095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rPr dirty="0"/>
              <a:t>Concrete Project Targets &amp; Expected Solutions</a:t>
            </a:r>
          </a:p>
          <a:p>
            <a:pPr>
              <a:spcAft>
                <a:spcPts val="7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00B4A2"/>
                </a:solidFill>
              </a:rPr>
              <a:t>✔  Deployment of MVC Architecture: Build a web application using the Model-View-Controller design pattern (Mongoose Models, EJS-mate templates as Views, and Express.js Routers as Controllers) for a clean separation of concern.</a:t>
            </a:r>
          </a:p>
          <a:p>
            <a:pPr>
              <a:spcAft>
                <a:spcPts val="7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00B4A2"/>
                </a:solidFill>
              </a:rPr>
              <a:t>✔  Verification-Based Trust Engine: Create an admin control center where moderators manually inspect uploaded host documents (Aadhar card, utility bill, and sales deed) and log every action to an immutable </a:t>
            </a:r>
            <a:r>
              <a:rPr b="1" dirty="0" err="1">
                <a:solidFill>
                  <a:srgbClr val="00B4A2"/>
                </a:solidFill>
              </a:rPr>
              <a:t>AuditLog</a:t>
            </a:r>
            <a:r>
              <a:rPr b="1" dirty="0">
                <a:solidFill>
                  <a:srgbClr val="00B4A2"/>
                </a:solidFill>
              </a:rPr>
              <a:t> collection.</a:t>
            </a:r>
          </a:p>
          <a:p>
            <a:pPr>
              <a:spcAft>
                <a:spcPts val="7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00B4A2"/>
                </a:solidFill>
              </a:rPr>
              <a:t>✔  Double-Booking Collision Avoidance: Implement backend date validators to check requested check-in/out ranges against active bookings, automatically blocking overlaps and auto-rejecting conflicting requests when a booking is accepted.</a:t>
            </a:r>
          </a:p>
          <a:p>
            <a:pPr>
              <a:spcAft>
                <a:spcPts val="7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00B4A2"/>
                </a:solidFill>
              </a:rPr>
              <a:t>✔  Exclusive Women's Safety Ratings: Build a rating system that restricts safety reviews (covering lighting, locks, host conduct, transport) strictly to female users with completed and validated stays.</a:t>
            </a:r>
          </a:p>
          <a:p>
            <a:pPr>
              <a:spcAft>
                <a:spcPts val="7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00B4A2"/>
                </a:solidFill>
              </a:rPr>
              <a:t>✔  Eco-Friendly Feature Disclosures: Enable hosts to check-list active green features (solar energy, waste sorting, rainwater harvesting, energy appliances, public transit, water fixtures) and display them as badges on listing details.</a:t>
            </a:r>
          </a:p>
          <a:p>
            <a:pPr>
              <a:spcAft>
                <a:spcPts val="7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rPr b="1" dirty="0">
                <a:solidFill>
                  <a:srgbClr val="00B4A2"/>
                </a:solidFill>
              </a:rPr>
              <a:t>✔  Community Services Marketplace: Help local providers list drivers, tour guides, and house helpers categorized by city/state, making it easy for guests to access nearby amenities.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SCOPE &amp; OPERATIONAL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rPr sz="2000" dirty="0"/>
              <a:t>In-Scope Modules &amp; Roles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101C30"/>
                </a:solidFill>
              </a:rPr>
              <a:t>• Guest Operations: Registering accounts, searching listings by city, selecting </a:t>
            </a:r>
            <a:r>
              <a:rPr sz="1400" b="1" dirty="0" err="1">
                <a:solidFill>
                  <a:srgbClr val="101C30"/>
                </a:solidFill>
              </a:rPr>
              <a:t>checkin</a:t>
            </a:r>
            <a:r>
              <a:rPr sz="1400" b="1" dirty="0">
                <a:solidFill>
                  <a:srgbClr val="101C30"/>
                </a:solidFill>
              </a:rPr>
              <a:t>-checkout dates, submitting bookings, writing reviews, and adding female safety scores (if female).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101C30"/>
                </a:solidFill>
              </a:rPr>
              <a:t>• Host Operations: Creating normal/shared listing profiles, uploading images and verification PDFs, managing reservation status (accept, reject, cancel), and advertising local marketplace services.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101C30"/>
                </a:solidFill>
              </a:rPr>
              <a:t>• Admin Portal: Reviewing pending properties, checking credentials, publishing verified listings, and checking immutable system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554480"/>
            <a:ext cx="48463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rPr sz="2000" dirty="0"/>
              <a:t>System Boundaries &amp; Limitations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C2185B"/>
                </a:solidFill>
              </a:rPr>
              <a:t>✖ Simulated Payment Flow: Financial transactions are simulated using pending-accepted status changes; no direct payment gateway (Stripe/</a:t>
            </a:r>
            <a:r>
              <a:rPr sz="1400" b="1" dirty="0" err="1">
                <a:solidFill>
                  <a:srgbClr val="C2185B"/>
                </a:solidFill>
              </a:rPr>
              <a:t>Razorpay</a:t>
            </a:r>
            <a:r>
              <a:rPr sz="1400" b="1" dirty="0">
                <a:solidFill>
                  <a:srgbClr val="C2185B"/>
                </a:solidFill>
              </a:rPr>
              <a:t>) is integrated.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C2185B"/>
                </a:solidFill>
              </a:rPr>
              <a:t>✖ Manual Vetting: Document vetting is performed manually by admins through a workspace panel; automated OCR analysis is excluded.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C2185B"/>
                </a:solidFill>
              </a:rPr>
              <a:t>✖ Local Storage: Uploaded documents and listings are saved locally on the hosting server; external cloud servers (S3) are not used.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b="1" dirty="0">
                <a:solidFill>
                  <a:srgbClr val="C2185B"/>
                </a:solidFill>
              </a:rPr>
              <a:t>✖ No Live Chat: Host-guest interactions occur via dashboard booking status triggers; instant chat is excluded.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SPECIFICATION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108960" cy="35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1C30"/>
                </a:solidFill>
                <a:latin typeface="Calibri"/>
              </a:defRPr>
            </a:pPr>
            <a:r>
              <a:rPr dirty="0"/>
              <a:t>1. Security &amp; Session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Passport.js Local Strategy is used to manage host/guest credentials.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Uses PBKDF2 password hashing with custom iterations to prevent brute-force attacks.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express-session creates cookie-based sessions, storing login state.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Route Guards: prevents non-logged users from booking, non-owners from editing, and non-admins from vetting.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Local variable middleware dynamically changes navbar links (Login/Signup vs. Logout) based on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371600"/>
            <a:ext cx="33832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0910" y="1508760"/>
            <a:ext cx="3108960" cy="35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1C30"/>
                </a:solidFill>
                <a:latin typeface="Calibri"/>
              </a:defRPr>
            </a:pPr>
            <a:r>
              <a:rPr dirty="0"/>
              <a:t>2. Listing CRUD Desk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Properties are listed with titles, categories (normal/shared), prices, meal types, and locations.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Multer middleware handles multipart image and PDF document uploads.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Host uploads government ID (Aadhar) and property proof (utility bill/deed) on creation.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New or edited properties are set to pending and hidden until verified.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Editing a live property resets status to pending, forcing re-vetting to prevent sneaky listings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2615" y="1371600"/>
            <a:ext cx="33832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9775" y="1508760"/>
            <a:ext cx="310896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1C30"/>
                </a:solidFill>
                <a:latin typeface="Calibri"/>
              </a:defRPr>
            </a:pPr>
            <a:r>
              <a:rPr dirty="0"/>
              <a:t>3. Booking Engine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Guests select dates using </a:t>
            </a:r>
            <a:r>
              <a:rPr sz="1400" dirty="0" err="1"/>
              <a:t>Flatpickr</a:t>
            </a:r>
            <a:r>
              <a:rPr sz="1400" dirty="0"/>
              <a:t> calendar. Total price, nights, and guests are dynamically calculated.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Collision prevention engine runs checks before reserving rooms.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Validates date overlaps: checks if any accepted/pending booking exists where </a:t>
            </a:r>
            <a:r>
              <a:rPr sz="1400" dirty="0" err="1"/>
              <a:t>checkIn</a:t>
            </a:r>
            <a:r>
              <a:rPr sz="1400" dirty="0"/>
              <a:t> &lt; </a:t>
            </a:r>
            <a:r>
              <a:rPr sz="1400" dirty="0" err="1"/>
              <a:t>requestedCheckOut</a:t>
            </a:r>
            <a:r>
              <a:rPr sz="1400" dirty="0"/>
              <a:t> and </a:t>
            </a:r>
            <a:r>
              <a:rPr sz="1400" dirty="0" err="1"/>
              <a:t>checkOut</a:t>
            </a:r>
            <a:r>
              <a:rPr sz="1400" dirty="0"/>
              <a:t> &gt; </a:t>
            </a:r>
            <a:r>
              <a:rPr sz="1400" dirty="0" err="1"/>
              <a:t>requestedCheckIn</a:t>
            </a:r>
            <a:r>
              <a:rPr sz="1400"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Accepting a booking locks the dates, auto-rejecting conflicting pending requests.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Rejections or cancellations release the dates back to the available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SPECIFICATION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4688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286000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1C30"/>
                </a:solidFill>
                <a:latin typeface="Calibri"/>
              </a:defRPr>
            </a:pPr>
            <a:r>
              <a:rPr dirty="0"/>
              <a:t>4. Women Safety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Restricted access</a:t>
            </a:r>
            <a:r>
              <a:rPr lang="en-IN" sz="1400" dirty="0"/>
              <a:t>: Checks female guests </a:t>
            </a:r>
            <a:r>
              <a:rPr lang="en-IN" sz="1400" dirty="0" err="1"/>
              <a:t>genderin</a:t>
            </a:r>
            <a:r>
              <a:rPr lang="en-IN" sz="1400" dirty="0"/>
              <a:t> database</a:t>
            </a:r>
            <a:r>
              <a:rPr sz="1400" dirty="0"/>
              <a:t>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Completed stay check: Only allows reviews for accepted checkout dates in the past.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Collects binary tags: lighting, locks/privacy, host conduct, transport, neighborhood.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Uses MongoDB aggregate pipelines to calculate averages.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Displays safety ratings separately to guide female travelers.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4688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2286000" cy="414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1C30"/>
                </a:solidFill>
                <a:latin typeface="Calibri"/>
              </a:defRPr>
            </a:pPr>
            <a:r>
              <a:rPr dirty="0"/>
              <a:t>5. Eco Disclosures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dirty="0"/>
              <a:t>•</a:t>
            </a:r>
            <a:r>
              <a:rPr sz="1400" dirty="0"/>
              <a:t> Hosts can check-list which eco features are active at their property.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Checks cover solar energy, recycling, rainwater harvesting, efficient devices, transport, water saving.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Lists active features as informative badges directly on property details.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NO mathematical rating or calculated scores are applied.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Empowers travelers to evaluate green amenities transparently.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24688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508760"/>
            <a:ext cx="2286000" cy="328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1C30"/>
                </a:solidFill>
                <a:latin typeface="Calibri"/>
              </a:defRPr>
            </a:pPr>
            <a:r>
              <a:rPr dirty="0"/>
              <a:t>6. Local Services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Directory of drivers, guides, and house helpers.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Help local providers list services to generate supplemental income.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Searchable database filtered by city parameters.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Unique phone check prevents duplicates and spam.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Integrates with listings, linking local support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371600"/>
            <a:ext cx="24688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1508760"/>
            <a:ext cx="228600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1C30"/>
                </a:solidFill>
                <a:latin typeface="Calibri"/>
              </a:defRPr>
            </a:pPr>
            <a:r>
              <a:rPr dirty="0"/>
              <a:t>7. Vetting &amp; Audits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Vetting queue displays unverified properties.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Vetting workspace to review uploaded documents.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Approves listings or enters rejection reasons.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Writes immutable event logs to </a:t>
            </a:r>
            <a:r>
              <a:rPr sz="1400" dirty="0" err="1"/>
              <a:t>AuditLog</a:t>
            </a:r>
            <a:r>
              <a:rPr sz="1400" dirty="0"/>
              <a:t> collection.</a:t>
            </a:r>
          </a:p>
          <a:p>
            <a:pPr>
              <a:spcAft>
                <a:spcPts val="5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Audit Log tracks: admin id, listing id, action, rejection reasons, and timestamps.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MVC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749039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1C30"/>
                </a:solidFill>
                <a:latin typeface="Calibri"/>
              </a:defRPr>
            </a:pPr>
            <a:r>
              <a:rPr dirty="0"/>
              <a:t>MVC Pattern Execution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Browser (Frontend Client): Sends HTTP requests (POST, GET, PUT) for logins, listings, and bookings. Interacts with EJS templates containing </a:t>
            </a:r>
            <a:r>
              <a:rPr sz="1400" dirty="0" err="1"/>
              <a:t>Flatpickr</a:t>
            </a:r>
            <a:r>
              <a:rPr sz="1400" dirty="0"/>
              <a:t> calendars.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Middleware Routing (Guards): Intercepts requests, checking session cookies via Passport.js to verify active logins, listing ownership, and admin access.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Controllers (Backend Engine): Executes business calculations, processes uploads, runs overlap validators, and fetches collections.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sz="1400" dirty="0"/>
              <a:t>• Model / DB (Mongoose &amp; MongoDB): Defines schemas and indexes for Users, Listings, Bookings, Services, and Logs.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371600"/>
            <a:ext cx="640080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0" y="27432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101C30"/>
                </a:solidFill>
                <a:latin typeface="Calibri"/>
              </a:defRPr>
            </a:pPr>
            <a:r>
              <a:t>[ PLACEHOLDER: SYSTEM ARCHITECTURE DIAGRAM ]</a:t>
            </a:r>
          </a:p>
          <a:p>
            <a:pPr algn="ctr">
              <a:defRPr sz="1300">
                <a:solidFill>
                  <a:srgbClr val="323232"/>
                </a:solidFill>
                <a:latin typeface="Calibri"/>
              </a:defRPr>
            </a:pPr>
            <a:r>
              <a:t>(Copy and paste the MVC Architecture flowchart from Chapter 2 of the Project Report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ACTIVITY DIAGRAM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1C30"/>
                </a:solidFill>
                <a:latin typeface="Calibri"/>
              </a:defRPr>
            </a:pPr>
            <a:r>
              <a:t>Activity Steps Explained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1. Login/Signup check: Validates credentials, directs users to Guest, Host, or Admin dashboard.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2. Guest pipeline: Searches listings -&gt; selects dates -&gt; check conflicts -&gt; creates pending booking request -&gt; checks out -&gt; female rating (if female).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3. Host pipeline: Fills details -&gt; checks eco-features -&gt; uploads docs -&gt; waits for vetting -&gt; live status -&gt; approves or rejects guest booking request.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4. Admin pipeline: Vets docs -&gt; approves/rejects listing -&gt; logs results to AuditLog collection.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371600"/>
            <a:ext cx="640080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0" y="27432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101C30"/>
                </a:solidFill>
                <a:latin typeface="Calibri"/>
              </a:defRPr>
            </a:pPr>
            <a:r>
              <a:t>[ PLACEHOLDER: SYSTEM ACTIVITY FLOWCHART ]</a:t>
            </a:r>
          </a:p>
          <a:p>
            <a:pPr algn="ctr">
              <a:defRPr sz="1300">
                <a:solidFill>
                  <a:srgbClr val="323232"/>
                </a:solidFill>
                <a:latin typeface="Calibri"/>
              </a:defRPr>
            </a:pPr>
            <a:r>
              <a:t>(Copy and paste the detailed multi-swimlane Activity flowchart from Chapter 2 of the Project Report)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COMPONENT SEQUENCE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1C30"/>
                </a:solidFill>
                <a:latin typeface="Calibri"/>
              </a:defRPr>
            </a:pPr>
            <a:r>
              <a:t>Sequence logic step-by-step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A. Vetting flow: Host submits listing + uploads Aadhar/utility bill. Multer processes and saves files locally under /public/uploads/. The listing is created with status 'pending' in MongoDB. The Admin views the listing in the queue, approves it, and an immutable log entry is generated in the database.</a:t>
            </a:r>
          </a:p>
          <a:p>
            <a:pPr>
              <a:spcAft>
                <a:spcPts val="10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B. Booking flow: Guest requests booking. Booking controller runs conflict checks. If dates are free, booking is saved as pending. If the Host accepts, dates are locked, and overlapping bookings are auto-rejected.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371600"/>
            <a:ext cx="640080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0" y="27432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101C30"/>
                </a:solidFill>
                <a:latin typeface="Calibri"/>
              </a:defRPr>
            </a:pPr>
            <a:r>
              <a:t>[ PLACEHOLDER: SYSTEM SEQUENCE FLOWS ]</a:t>
            </a:r>
          </a:p>
          <a:p>
            <a:pPr algn="ctr">
              <a:defRPr sz="1300">
                <a:solidFill>
                  <a:srgbClr val="323232"/>
                </a:solidFill>
                <a:latin typeface="Calibri"/>
              </a:defRPr>
            </a:pPr>
            <a:r>
              <a:t>(Copy and paste the Vetting Sequence diagram and Booking Conflict sequence diagram from Chapter 2 of the Project Report)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USER INTERFACE: DISCOVERY &amp; SHOWCASES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21208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[ PLACEHOLDER: HOMEPAGE &amp; DISCOVERY ]</a:t>
            </a:r>
          </a:p>
          <a:p>
            <a:pPr algn="ctr">
              <a:defRPr sz="1200">
                <a:solidFill>
                  <a:srgbClr val="323232"/>
                </a:solidFill>
                <a:latin typeface="Calibri"/>
              </a:defRPr>
            </a:pPr>
            <a:r>
              <a:t>Insert screenshot of index.ejs showing:</a:t>
            </a:r>
            <a:br/>
            <a:r>
              <a:t>- Navigation Header &amp; Search Filter Bar</a:t>
            </a:r>
            <a:br/>
            <a:r>
              <a:t>- Shared Category Filters</a:t>
            </a:r>
            <a:br/>
            <a:r>
              <a:t>- Property Listing Cards with Eco-Feature Badges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3815" y="1371600"/>
            <a:ext cx="521208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5255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[ PLACEHOLDER: PROPERTY DETAIL VIEW ]</a:t>
            </a:r>
          </a:p>
          <a:p>
            <a:pPr algn="ctr">
              <a:defRPr sz="1200">
                <a:solidFill>
                  <a:srgbClr val="323232"/>
                </a:solidFill>
                <a:latin typeface="Calibri"/>
              </a:defRPr>
            </a:pPr>
            <a:r>
              <a:t>Insert screenshot of show.ejs showing:</a:t>
            </a:r>
            <a:br/>
            <a:r>
              <a:t>- Image Carousel &amp; Description text</a:t>
            </a:r>
            <a:br/>
            <a:r>
              <a:t>- Flatpickr check-in/out form</a:t>
            </a:r>
            <a:br/>
            <a:r>
              <a:t>- Sustainability checklists &amp; Women's safety ratings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USER INTERFACE: PORTALS &amp;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21208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[ PLACEHOLDER: BOOKINGS &amp; STATE CONTROL ]</a:t>
            </a:r>
          </a:p>
          <a:p>
            <a:pPr algn="ctr">
              <a:defRPr sz="1200">
                <a:solidFill>
                  <a:srgbClr val="323232"/>
                </a:solidFill>
                <a:latin typeface="Calibri"/>
              </a:defRPr>
            </a:pPr>
            <a:r>
              <a:t>Insert screenshot of my-bookings.ejs showing:</a:t>
            </a:r>
            <a:br/>
            <a:r>
              <a:t>- Guest Bookings checklist and receipt download</a:t>
            </a:r>
            <a:br/>
            <a:r>
              <a:t>- Host Reservations list dashboard</a:t>
            </a:r>
            <a:br/>
            <a:r>
              <a:t>- Booking state buttons (Accept, Reject, Cancel)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3815" y="1371600"/>
            <a:ext cx="521208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5255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[ PLACEHOLDER: SERVICES MARKETPLACE ]</a:t>
            </a:r>
          </a:p>
          <a:p>
            <a:pPr algn="ctr">
              <a:defRPr sz="1200">
                <a:solidFill>
                  <a:srgbClr val="323232"/>
                </a:solidFill>
                <a:latin typeface="Calibri"/>
              </a:defRPr>
            </a:pPr>
            <a:r>
              <a:t>Insert screenshot of services/index.ejs showing:</a:t>
            </a:r>
            <a:br/>
            <a:r>
              <a:t>- Category listings (Drivers, Guides, Helpers)</a:t>
            </a:r>
            <a:br/>
            <a:r>
              <a:t>- Local contact directory filtered by city</a:t>
            </a:r>
            <a:br/>
            <a:r>
              <a:t>- Registration form for new local service providers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USER INTERFACE: ADMIN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21208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[ PLACEHOLDER: ADMIN VETTING QUEUE ]</a:t>
            </a:r>
          </a:p>
          <a:p>
            <a:pPr algn="ctr">
              <a:defRPr sz="1200">
                <a:solidFill>
                  <a:srgbClr val="323232"/>
                </a:solidFill>
                <a:latin typeface="Calibri"/>
              </a:defRPr>
            </a:pPr>
            <a:r>
              <a:t>Insert screenshot of admin/dashboard.ejs showing:</a:t>
            </a:r>
            <a:br/>
            <a:r>
              <a:t>- Pending host properties vetting queue</a:t>
            </a:r>
            <a:br/>
            <a:r>
              <a:t>- Government document inspect dashboard</a:t>
            </a:r>
            <a:br/>
            <a:r>
              <a:t>- Approve / Reject buttons with rejection 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3815" y="1371600"/>
            <a:ext cx="5212080" cy="4846320"/>
          </a:xfrm>
          <a:prstGeom prst="rect">
            <a:avLst/>
          </a:prstGeom>
          <a:solidFill>
            <a:srgbClr val="EBF5F5"/>
          </a:solidFill>
          <a:ln w="1905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5255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[ PLACEHOLDER: SYSTEM AUDIT LOGS ]</a:t>
            </a:r>
          </a:p>
          <a:p>
            <a:pPr algn="ctr">
              <a:defRPr sz="1200">
                <a:solidFill>
                  <a:srgbClr val="323232"/>
                </a:solidFill>
                <a:latin typeface="Calibri"/>
              </a:defRPr>
            </a:pPr>
            <a:r>
              <a:t>Insert screenshot of audit trails table showing:</a:t>
            </a:r>
            <a:br/>
            <a:r>
              <a:t>- Active Admin identifier</a:t>
            </a:r>
            <a:br/>
            <a:r>
              <a:t>- Affected Listing details</a:t>
            </a:r>
            <a:br/>
            <a:r>
              <a:t>- Performed Actions (Approve/Reject), Rejection Reasons, and Timestamps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PLAN &amp;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20095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Manual Testing Scenarios &amp; Verification Methods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✔  Authentication Verification (TC-AUTH): Checks form validators (non-empty username, valid email formats), enforces password security checks (Passport.js), and verifies session creation and login redirections (9 scenarios).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✔  Listings Integrity (TC-LST): Checks that listing forms block invalid entries (negative prices, empty descriptions), verifies owner-only edit controls, and confirms search filtering options by city names (7 scenarios).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✔  Admin Verification Queue (TC-ADM): Checks that host Aadhar cards, deeds, and bills are visible in the vetting dashboard. Confirms approving/rejecting listings logs actions to MongoDB AuditLog (5 scenarios).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✔  Guest Booking Pipeline (TC-BKG): Verifies checkin-checkout calendar ranges. Confirms the collision checker blocks bookings that overlap with existing accepted bookings (5 scenarios).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✔  Host Booking State (TC-HMG): Verifies reservation management. Confirms accepting a booking locks the selected dates and auto-rejects overlapping requests (5 scenarios).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✔  Local Services Marketplace (TC-SRV): Enforces unique contact phone constraints to prevent spam and checks that directory searches correctly filter by city parameters (6 scenarios).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METRICS &amp; BUG RESOLUTIONS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Manual Test Metrics Summary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1. Authentication: 9 Runs, 9 Passed, 0 Failed (100% Pass)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2. Listings CRUD: 7 Runs, 7 Passed, 0 Failed (100% Pass)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3. Admin Vetting: 5 Runs, 5 Passed, 0 Failed (100% Pass)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4. Guest Bookings: 5 Runs, 5 Passed, 0 Failed (100% Pass)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5. Host Management: 5 Runs, 5 Passed, 0 Failed (100% Pass)</a:t>
            </a:r>
          </a:p>
          <a:p>
            <a:pPr>
              <a:spcAft>
                <a:spcPts val="800"/>
              </a:spcAft>
              <a:defRPr sz="1250">
                <a:solidFill>
                  <a:srgbClr val="323232"/>
                </a:solidFill>
                <a:latin typeface="Calibri"/>
              </a:defRPr>
            </a:pPr>
            <a:r>
              <a:t>6. Services Directory: 6 Runs, 6 Passed, 0 Failed (100% Pass)</a:t>
            </a:r>
          </a:p>
          <a:p>
            <a:pPr>
              <a:spcAft>
                <a:spcPts val="800"/>
              </a:spcAft>
              <a:defRPr sz="1250" b="1">
                <a:solidFill>
                  <a:srgbClr val="00B4A2"/>
                </a:solidFill>
                <a:latin typeface="Calibri"/>
              </a:defRPr>
            </a:pPr>
            <a:r>
              <a:t>Total Execution: 37 Cases, 37 Passed, 0 Failed (100% Pass)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Fixed Defects &amp; Solutions</a:t>
            </a:r>
          </a:p>
          <a:p>
            <a:pPr>
              <a:spcAft>
                <a:spcPts val="10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101C30"/>
                </a:solidFill>
              </a:rPr>
              <a:t>• Listing Edit Location Bug: Editing a property did not save city, state, or country fields. This occurred because HTML input tags in edit.ejs were missing the 'name' attributes. Added name attributes to restore data binding.</a:t>
            </a:r>
          </a:p>
          <a:p>
            <a:pPr>
              <a:spcAft>
                <a:spcPts val="10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101C30"/>
                </a:solidFill>
              </a:rPr>
              <a:t>• Duplicate Service Contacts: Service providers could list duplicate phone numbers, causing spam. Added unique schema indexes and modified the controller to catch error code 11000 and return custom flash alerts.</a:t>
            </a:r>
          </a:p>
          <a:p>
            <a:pPr>
              <a:spcAft>
                <a:spcPts val="10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101C30"/>
                </a:solidFill>
              </a:rPr>
              <a:t>• Date Format Selection Bug: Calendar inputs returned inconsistent date strings across different browsers, breaking backend date queries. Standardized input formats to YYYY-MM-DD using Flatpickr settings.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Project Conclusion</a:t>
            </a:r>
          </a:p>
          <a:p>
            <a:pPr>
              <a:spcAft>
                <a:spcPts val="1000"/>
              </a:spcAft>
              <a:defRPr sz="1200">
                <a:solidFill>
                  <a:srgbClr val="323232"/>
                </a:solidFill>
                <a:latin typeface="Calibri"/>
              </a:defRPr>
            </a:pPr>
            <a:r>
              <a:t>Nestify is a community-focused web application built on the MERN stack. It successfully implements a secure shared-accommodation booking system with several innovative community modules:</a:t>
            </a:r>
            <a:br/>
            <a:br/>
            <a:r>
              <a:t>1. Credential Vetting: Reduces fraud by requiring host ID and property document uploads before listing.</a:t>
            </a:r>
            <a:br/>
            <a:r>
              <a:t>2. Verified Safety Scores: Restricts safety reviews to female guests with confirmed stays, providing solo female travelers with trusted feedback.</a:t>
            </a:r>
            <a:br/>
            <a:r>
              <a:t>3. Eco-Friendly Disclosures: Displays host-declared eco-features (like solar panels or rainwater harvesting) directly on the details view, aiding transparency.</a:t>
            </a:r>
            <a:br/>
            <a:r>
              <a:t>4. Services Directory: Connects local workers with travelers, helping providers earn supplementary income.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1C30"/>
                </a:solidFill>
                <a:latin typeface="Calibri"/>
              </a:defRPr>
            </a:pPr>
            <a:r>
              <a:t>Future Roadmap Plans</a:t>
            </a:r>
          </a:p>
          <a:p>
            <a:pPr>
              <a:spcAft>
                <a:spcPts val="6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• Live Payment Processing: Integrate Stripe or Razorpay APIs to handle secure escrow booking payments, automated host payouts, and platform commissions.</a:t>
            </a:r>
          </a:p>
          <a:p>
            <a:pPr>
              <a:spcAft>
                <a:spcPts val="6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• Real-time Chat Integrations (Socket.io): Replace session state polling with instant messaging between hosts and guests to coordinate arrival/departure details.</a:t>
            </a:r>
          </a:p>
          <a:p>
            <a:pPr>
              <a:spcAft>
                <a:spcPts val="6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• Interactive Geocoding Map (Mapbox): Embed maps to show property pins, support search-by-radius, and display nearby service providers on visual layouts.</a:t>
            </a:r>
          </a:p>
          <a:p>
            <a:pPr>
              <a:spcAft>
                <a:spcPts val="6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• Automated Document OCR Analysis: Integrate text-recognition APIs to automatically parse and vet uploaded deeds and ID cards, reducing manual admin review overhead.</a:t>
            </a:r>
          </a:p>
          <a:p>
            <a:pPr>
              <a:spcAft>
                <a:spcPts val="600"/>
              </a:spcAft>
              <a:defRPr sz="1150">
                <a:solidFill>
                  <a:srgbClr val="323232"/>
                </a:solidFill>
                <a:latin typeface="Calibri"/>
              </a:defRPr>
            </a:pPr>
            <a:r>
              <a:rPr b="1">
                <a:solidFill>
                  <a:srgbClr val="00B4A2"/>
                </a:solidFill>
              </a:rPr>
              <a:t>• Mobile PWA Support: Turn the web app into a Progressive Web Application to support offline calendar lookups and app-like mobile styling.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2786</Words>
  <Application>Microsoft Office PowerPoint</Application>
  <PresentationFormat>Widescreen</PresentationFormat>
  <Paragraphs>165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bestfriendyt77@gmail.com</cp:lastModifiedBy>
  <cp:revision>2</cp:revision>
  <dcterms:created xsi:type="dcterms:W3CDTF">2013-01-27T09:14:16Z</dcterms:created>
  <dcterms:modified xsi:type="dcterms:W3CDTF">2026-06-13T19:55:39Z</dcterms:modified>
  <cp:category/>
</cp:coreProperties>
</file>